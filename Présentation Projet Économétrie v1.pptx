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980212-E8EC-414F-A8E1-F20571AFA371}" v="3337" dt="2022-12-12T22:40:02.740"/>
    <p1510:client id="{CAFBC7B6-0E3B-2858-B02D-231B374CF2B1}" v="780" dt="2022-12-12T19:21:00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08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43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0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12/12/2022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4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7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12/12/2022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795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3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12/12/2022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8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47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26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81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0C5012CC-71C4-4FA0-9F88-477BB5EA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5148" y="0"/>
            <a:ext cx="6076852" cy="6849700"/>
          </a:xfrm>
          <a:prstGeom prst="rect">
            <a:avLst/>
          </a:prstGeom>
          <a:ln>
            <a:noFill/>
          </a:ln>
          <a:effectLst>
            <a:outerShdw blurRad="596900" dist="317500" dir="8820000" sx="87000" sy="87000" algn="t" rotWithShape="0">
              <a:schemeClr val="tx1"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FC486F-EE17-4AB5-AFD2-50FD675AE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99"/>
            <a:ext cx="12191999" cy="3541390"/>
          </a:xfrm>
          <a:prstGeom prst="rect">
            <a:avLst/>
          </a:prstGeom>
          <a:ln>
            <a:noFill/>
          </a:ln>
          <a:effectLst>
            <a:outerShdw blurRad="596900" dist="330200" dir="714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5613" y="926048"/>
            <a:ext cx="4993991" cy="2257625"/>
          </a:xfrm>
        </p:spPr>
        <p:txBody>
          <a:bodyPr anchor="b">
            <a:normAutofit/>
          </a:bodyPr>
          <a:lstStyle/>
          <a:p>
            <a:r>
              <a:rPr lang="en-US" err="1">
                <a:cs typeface="Calibri Light"/>
              </a:rPr>
              <a:t>Projet</a:t>
            </a:r>
            <a:r>
              <a:rPr lang="en-US">
                <a:cs typeface="Calibri Light"/>
              </a:rPr>
              <a:t> </a:t>
            </a:r>
            <a:r>
              <a:rPr lang="en-US" err="1">
                <a:cs typeface="Calibri Light"/>
              </a:rPr>
              <a:t>empirique</a:t>
            </a:r>
            <a:r>
              <a:rPr lang="en-US">
                <a:cs typeface="Calibri Light"/>
              </a:rPr>
              <a:t> </a:t>
            </a:r>
            <a:r>
              <a:rPr lang="en-US" err="1">
                <a:cs typeface="Calibri Light"/>
              </a:rPr>
              <a:t>Économétrie</a:t>
            </a:r>
            <a:r>
              <a:rPr lang="en-US">
                <a:cs typeface="Calibri Light"/>
              </a:rPr>
              <a:t> 1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08377" y="4041202"/>
            <a:ext cx="4174768" cy="21988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dirty="0" err="1">
                <a:cs typeface="Calibri"/>
              </a:rPr>
              <a:t>Beqaj</a:t>
            </a:r>
            <a:r>
              <a:rPr lang="en-US" dirty="0">
                <a:cs typeface="Calibri"/>
              </a:rPr>
              <a:t> Daniel</a:t>
            </a:r>
          </a:p>
          <a:p>
            <a:pPr algn="r"/>
            <a:r>
              <a:rPr lang="en-US" dirty="0" err="1">
                <a:cs typeface="Calibri"/>
              </a:rPr>
              <a:t>Bouroi-Zgonec</a:t>
            </a:r>
            <a:r>
              <a:rPr lang="en-US" dirty="0">
                <a:cs typeface="Calibri"/>
              </a:rPr>
              <a:t> Tamara</a:t>
            </a:r>
          </a:p>
          <a:p>
            <a:pPr algn="r"/>
            <a:r>
              <a:rPr lang="en-US" dirty="0">
                <a:cs typeface="Calibri"/>
              </a:rPr>
              <a:t>Trinh </a:t>
            </a:r>
            <a:r>
              <a:rPr lang="en-US" dirty="0" err="1">
                <a:cs typeface="Calibri"/>
              </a:rPr>
              <a:t>Thi</a:t>
            </a:r>
            <a:r>
              <a:rPr lang="en-US" dirty="0">
                <a:cs typeface="Calibri"/>
              </a:rPr>
              <a:t> Thanh Thuy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51451-1CCC-BDFA-1EE2-49C0182F1A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16" r="-7" b="35440"/>
          <a:stretch/>
        </p:blipFill>
        <p:spPr>
          <a:xfrm>
            <a:off x="6115147" y="10"/>
            <a:ext cx="6076866" cy="354967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BCE0AD-4A3C-4FDB-8E9D-2C3827AD7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EF6AED-26CF-1BAC-97A0-242742F37134}"/>
              </a:ext>
            </a:extLst>
          </p:cNvPr>
          <p:cNvSpPr txBox="1"/>
          <p:nvPr/>
        </p:nvSpPr>
        <p:spPr>
          <a:xfrm>
            <a:off x="690283" y="3675529"/>
            <a:ext cx="102107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cs typeface="Calibri"/>
              </a:rPr>
              <a:t>" </a:t>
            </a:r>
            <a:r>
              <a:rPr lang="en-US" dirty="0" err="1">
                <a:cs typeface="Calibri"/>
              </a:rPr>
              <a:t>L'effet</a:t>
            </a:r>
            <a:r>
              <a:rPr lang="en-US" dirty="0">
                <a:cs typeface="Calibri"/>
              </a:rPr>
              <a:t> de la </a:t>
            </a:r>
            <a:r>
              <a:rPr lang="en-US" dirty="0" err="1">
                <a:cs typeface="Calibri"/>
              </a:rPr>
              <a:t>température</a:t>
            </a:r>
            <a:r>
              <a:rPr lang="en-US" dirty="0">
                <a:cs typeface="Calibri"/>
              </a:rPr>
              <a:t> et du prix de </a:t>
            </a:r>
            <a:r>
              <a:rPr lang="en-US" dirty="0" err="1">
                <a:cs typeface="Calibri"/>
              </a:rPr>
              <a:t>l'électricité</a:t>
            </a:r>
            <a:r>
              <a:rPr lang="en-US" dirty="0">
                <a:cs typeface="Calibri"/>
              </a:rPr>
              <a:t> des ménages sur la </a:t>
            </a:r>
            <a:r>
              <a:rPr lang="en-US" dirty="0" err="1">
                <a:cs typeface="Calibri"/>
              </a:rPr>
              <a:t>consommation</a:t>
            </a:r>
            <a:r>
              <a:rPr lang="en-US" dirty="0">
                <a:cs typeface="Calibri"/>
              </a:rPr>
              <a:t> brute de </a:t>
            </a:r>
            <a:r>
              <a:rPr lang="en-US" dirty="0" err="1">
                <a:cs typeface="Calibri"/>
              </a:rPr>
              <a:t>l'électricité</a:t>
            </a:r>
            <a:r>
              <a:rPr lang="en-US" dirty="0">
                <a:cs typeface="Calibri"/>
              </a:rPr>
              <a:t> "</a:t>
            </a:r>
            <a:endParaRPr lang="en-US" dirty="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1F1652-CF30-7DFE-A142-D3E8AA45C97B}"/>
              </a:ext>
            </a:extLst>
          </p:cNvPr>
          <p:cNvSpPr txBox="1"/>
          <p:nvPr/>
        </p:nvSpPr>
        <p:spPr>
          <a:xfrm>
            <a:off x="344089" y="594769"/>
            <a:ext cx="453049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Question </a:t>
            </a:r>
            <a:r>
              <a:rPr lang="en-US" dirty="0"/>
              <a:t>: Quel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>
                <a:ea typeface="+mn-lt"/>
                <a:cs typeface="+mn-lt"/>
              </a:rPr>
              <a:t>l'effet</a:t>
            </a:r>
            <a:r>
              <a:rPr lang="en-US" dirty="0">
                <a:ea typeface="+mn-lt"/>
                <a:cs typeface="+mn-lt"/>
              </a:rPr>
              <a:t> de la </a:t>
            </a:r>
            <a:r>
              <a:rPr lang="en-US" dirty="0" err="1">
                <a:ea typeface="+mn-lt"/>
                <a:cs typeface="+mn-lt"/>
              </a:rPr>
              <a:t>température</a:t>
            </a:r>
            <a:r>
              <a:rPr lang="en-US" dirty="0">
                <a:ea typeface="+mn-lt"/>
                <a:cs typeface="+mn-lt"/>
              </a:rPr>
              <a:t> et du prix de </a:t>
            </a:r>
            <a:r>
              <a:rPr lang="en-US" dirty="0" err="1">
                <a:ea typeface="+mn-lt"/>
                <a:cs typeface="+mn-lt"/>
              </a:rPr>
              <a:t>l'électricité</a:t>
            </a:r>
            <a:r>
              <a:rPr lang="en-US" dirty="0">
                <a:ea typeface="+mn-lt"/>
                <a:cs typeface="+mn-lt"/>
              </a:rPr>
              <a:t> des ménages sur la </a:t>
            </a:r>
            <a:r>
              <a:rPr lang="en-US" dirty="0" err="1">
                <a:ea typeface="+mn-lt"/>
                <a:cs typeface="+mn-lt"/>
              </a:rPr>
              <a:t>consommation</a:t>
            </a:r>
            <a:r>
              <a:rPr lang="en-US" dirty="0">
                <a:ea typeface="+mn-lt"/>
                <a:cs typeface="+mn-lt"/>
              </a:rPr>
              <a:t> brute </a:t>
            </a:r>
            <a:r>
              <a:rPr lang="en-US" dirty="0" err="1">
                <a:ea typeface="+mn-lt"/>
                <a:cs typeface="+mn-lt"/>
              </a:rPr>
              <a:t>d'électricité</a:t>
            </a:r>
            <a:r>
              <a:rPr lang="en-US" dirty="0">
                <a:ea typeface="+mn-lt"/>
                <a:cs typeface="+mn-lt"/>
              </a:rPr>
              <a:t>?</a:t>
            </a:r>
          </a:p>
          <a:p>
            <a:endParaRPr lang="en-US"/>
          </a:p>
          <a:p>
            <a:r>
              <a:rPr lang="en-US" b="1" dirty="0"/>
              <a:t>Sources</a:t>
            </a:r>
            <a:r>
              <a:rPr lang="en-US" dirty="0"/>
              <a:t>:</a:t>
            </a:r>
          </a:p>
          <a:p>
            <a:r>
              <a:rPr lang="en-US" dirty="0"/>
              <a:t>- ODRÉ (Open Data </a:t>
            </a:r>
            <a:r>
              <a:rPr lang="en-US" dirty="0" err="1"/>
              <a:t>Réseaux-Énergie</a:t>
            </a:r>
            <a:r>
              <a:rPr lang="en-US" dirty="0"/>
              <a:t>) pour le pic </a:t>
            </a:r>
            <a:r>
              <a:rPr lang="en-US" dirty="0" err="1"/>
              <a:t>journalier</a:t>
            </a:r>
            <a:r>
              <a:rPr lang="en-US" dirty="0"/>
              <a:t> de la </a:t>
            </a:r>
            <a:r>
              <a:rPr lang="en-US" dirty="0" err="1"/>
              <a:t>consommation</a:t>
            </a:r>
            <a:r>
              <a:rPr lang="en-US" dirty="0"/>
              <a:t> par rapport à la </a:t>
            </a:r>
            <a:r>
              <a:rPr lang="en-US" dirty="0" err="1"/>
              <a:t>température</a:t>
            </a:r>
            <a:r>
              <a:rPr lang="en-US" dirty="0"/>
              <a:t> </a:t>
            </a:r>
            <a:r>
              <a:rPr lang="en-US" dirty="0" err="1"/>
              <a:t>moyenne</a:t>
            </a:r>
            <a:r>
              <a:rPr lang="en-US" dirty="0"/>
              <a:t> </a:t>
            </a:r>
            <a:r>
              <a:rPr lang="en-US" dirty="0" err="1"/>
              <a:t>quotidienne</a:t>
            </a:r>
            <a:r>
              <a:rPr lang="en-US" dirty="0"/>
              <a:t> (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journalières</a:t>
            </a:r>
            <a:r>
              <a:rPr lang="en-US" dirty="0"/>
              <a:t>)</a:t>
            </a:r>
          </a:p>
          <a:p>
            <a:r>
              <a:rPr lang="en-US" dirty="0"/>
              <a:t>-</a:t>
            </a:r>
            <a:r>
              <a:rPr lang="en-US" dirty="0" err="1"/>
              <a:t>Ministère</a:t>
            </a:r>
            <a:r>
              <a:rPr lang="en-US" dirty="0"/>
              <a:t> de la Transition </a:t>
            </a:r>
            <a:r>
              <a:rPr lang="en-US" dirty="0" err="1"/>
              <a:t>écologique</a:t>
            </a:r>
            <a:r>
              <a:rPr lang="en-US" dirty="0"/>
              <a:t> pour le prix ménages </a:t>
            </a:r>
            <a:r>
              <a:rPr lang="en-US" dirty="0" err="1"/>
              <a:t>électricité</a:t>
            </a:r>
            <a:r>
              <a:rPr lang="en-US" dirty="0"/>
              <a:t> (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mensuelles</a:t>
            </a:r>
            <a:r>
              <a:rPr lang="en-US" dirty="0"/>
              <a:t>)</a:t>
            </a:r>
          </a:p>
        </p:txBody>
      </p:sp>
      <p:pic>
        <p:nvPicPr>
          <p:cNvPr id="4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E5BEE73A-5552-922F-DF95-D2629A363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78" y="937817"/>
            <a:ext cx="6910681" cy="3147923"/>
          </a:xfrm>
          <a:prstGeom prst="rect">
            <a:avLst/>
          </a:prstGeom>
        </p:spPr>
      </p:pic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95624780-8CC8-FFAB-7E0E-DDAB1936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235" y="4261871"/>
            <a:ext cx="6261570" cy="235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4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1FAD409F-417F-2AAB-B5E8-C0489E66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4" y="335"/>
            <a:ext cx="6064014" cy="6857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9CFD0D-9C33-0F2D-9A6D-4C79151DC648}"/>
              </a:ext>
            </a:extLst>
          </p:cNvPr>
          <p:cNvSpPr txBox="1"/>
          <p:nvPr/>
        </p:nvSpPr>
        <p:spPr>
          <a:xfrm>
            <a:off x="6378222" y="780815"/>
            <a:ext cx="554096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Nouvelle base de </a:t>
            </a:r>
            <a:r>
              <a:rPr lang="en-US" dirty="0" err="1"/>
              <a:t>données</a:t>
            </a:r>
            <a:r>
              <a:rPr lang="en-US" dirty="0"/>
              <a:t>:</a:t>
            </a:r>
          </a:p>
          <a:p>
            <a:r>
              <a:rPr lang="en-US" dirty="0"/>
              <a:t>-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série</a:t>
            </a:r>
            <a:r>
              <a:rPr lang="en-US" dirty="0"/>
              <a:t> </a:t>
            </a:r>
            <a:r>
              <a:rPr lang="en-US" dirty="0" err="1"/>
              <a:t>temporelle</a:t>
            </a:r>
            <a:r>
              <a:rPr lang="en-US" dirty="0"/>
              <a:t> (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mensuelles</a:t>
            </a:r>
            <a:r>
              <a:rPr lang="en-US" dirty="0"/>
              <a:t>)</a:t>
            </a:r>
          </a:p>
          <a:p>
            <a:r>
              <a:rPr lang="en-US" dirty="0"/>
              <a:t>- 60 observations (les </a:t>
            </a:r>
            <a:r>
              <a:rPr lang="en-US" dirty="0" err="1"/>
              <a:t>mois</a:t>
            </a:r>
            <a:r>
              <a:rPr lang="en-US" dirty="0"/>
              <a:t> entre 2017 et 2021)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E9922C-4762-91A4-7330-B74D46E719ED}"/>
              </a:ext>
            </a:extLst>
          </p:cNvPr>
          <p:cNvSpPr txBox="1"/>
          <p:nvPr/>
        </p:nvSpPr>
        <p:spPr>
          <a:xfrm>
            <a:off x="6378222" y="2464741"/>
            <a:ext cx="554096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Variables: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consom</a:t>
            </a:r>
            <a:r>
              <a:rPr lang="en-US" b="1" dirty="0"/>
              <a:t> </a:t>
            </a:r>
            <a:r>
              <a:rPr lang="en-US" dirty="0"/>
              <a:t>( la </a:t>
            </a:r>
            <a:r>
              <a:rPr lang="en-US" dirty="0" err="1"/>
              <a:t>moyenne</a:t>
            </a:r>
            <a:r>
              <a:rPr lang="en-US" dirty="0"/>
              <a:t> des pics </a:t>
            </a:r>
            <a:r>
              <a:rPr lang="en-US" dirty="0" err="1"/>
              <a:t>journaliers</a:t>
            </a:r>
            <a:r>
              <a:rPr lang="en-US" dirty="0"/>
              <a:t> de la </a:t>
            </a:r>
            <a:r>
              <a:rPr lang="en-US" dirty="0" err="1"/>
              <a:t>consommation</a:t>
            </a:r>
            <a:r>
              <a:rPr lang="en-US" dirty="0"/>
              <a:t> de </a:t>
            </a:r>
            <a:r>
              <a:rPr lang="en-US" dirty="0" err="1"/>
              <a:t>l'électricité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France </a:t>
            </a:r>
            <a:r>
              <a:rPr lang="en-US" dirty="0" err="1"/>
              <a:t>en</a:t>
            </a:r>
            <a:r>
              <a:rPr lang="en-US" dirty="0"/>
              <a:t> MW , variable quantitative continue )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temp </a:t>
            </a:r>
            <a:r>
              <a:rPr lang="en-US" dirty="0"/>
              <a:t>( la </a:t>
            </a:r>
            <a:r>
              <a:rPr lang="en-US" dirty="0" err="1"/>
              <a:t>moyenne</a:t>
            </a:r>
            <a:r>
              <a:rPr lang="en-US" dirty="0"/>
              <a:t> de la </a:t>
            </a:r>
            <a:r>
              <a:rPr lang="en-US" dirty="0" err="1"/>
              <a:t>température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dirty="0">
                <a:ea typeface="+mn-lt"/>
                <a:cs typeface="+mn-lt"/>
              </a:rPr>
              <a:t>°C , variable quantitative continue)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prix </a:t>
            </a:r>
            <a:r>
              <a:rPr lang="en-US" dirty="0"/>
              <a:t>( le prix de </a:t>
            </a:r>
            <a:r>
              <a:rPr lang="en-US" dirty="0" err="1"/>
              <a:t>l'électricité</a:t>
            </a:r>
            <a:r>
              <a:rPr lang="en-US" dirty="0"/>
              <a:t> pour les ménages </a:t>
            </a:r>
            <a:r>
              <a:rPr lang="en-US" dirty="0" err="1"/>
              <a:t>en</a:t>
            </a:r>
            <a:r>
              <a:rPr lang="en-US" dirty="0"/>
              <a:t> euros par 100 kWh </a:t>
            </a:r>
            <a:r>
              <a:rPr lang="en-US" dirty="0">
                <a:ea typeface="+mn-lt"/>
                <a:cs typeface="+mn-lt"/>
              </a:rPr>
              <a:t>,variable quantitative continue)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mois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( variable </a:t>
            </a:r>
            <a:r>
              <a:rPr lang="en-US" dirty="0" err="1">
                <a:ea typeface="+mn-lt"/>
                <a:cs typeface="+mn-lt"/>
              </a:rPr>
              <a:t>indicatrice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selon</a:t>
            </a:r>
            <a:r>
              <a:rPr lang="en-US" dirty="0">
                <a:ea typeface="+mn-lt"/>
                <a:cs typeface="+mn-lt"/>
              </a:rPr>
              <a:t> les </a:t>
            </a:r>
            <a:r>
              <a:rPr lang="en-US" dirty="0" err="1">
                <a:ea typeface="+mn-lt"/>
                <a:cs typeface="+mn-lt"/>
              </a:rPr>
              <a:t>mois</a:t>
            </a:r>
            <a:r>
              <a:rPr lang="en-US" dirty="0">
                <a:ea typeface="+mn-lt"/>
                <a:cs typeface="+mn-lt"/>
              </a:rPr>
              <a:t> 1-12)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trimestre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( variable </a:t>
            </a:r>
            <a:r>
              <a:rPr lang="en-US" dirty="0" err="1">
                <a:ea typeface="+mn-lt"/>
                <a:cs typeface="+mn-lt"/>
              </a:rPr>
              <a:t>indicatrice</a:t>
            </a:r>
            <a:r>
              <a:rPr lang="en-US" dirty="0">
                <a:ea typeface="+mn-lt"/>
                <a:cs typeface="+mn-lt"/>
              </a:rPr>
              <a:t> des </a:t>
            </a:r>
            <a:r>
              <a:rPr lang="en-US" dirty="0" err="1">
                <a:ea typeface="+mn-lt"/>
                <a:cs typeface="+mn-lt"/>
              </a:rPr>
              <a:t>trimestres</a:t>
            </a:r>
            <a:r>
              <a:rPr lang="en-US" dirty="0">
                <a:ea typeface="+mn-lt"/>
                <a:cs typeface="+mn-lt"/>
              </a:rPr>
              <a:t> 1-4)</a:t>
            </a:r>
          </a:p>
        </p:txBody>
      </p:sp>
    </p:spTree>
    <p:extLst>
      <p:ext uri="{BB962C8B-B14F-4D97-AF65-F5344CB8AC3E}">
        <p14:creationId xmlns:p14="http://schemas.microsoft.com/office/powerpoint/2010/main" val="206633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83E82D4-C10B-78B3-9627-296A84AC6DFD}"/>
              </a:ext>
            </a:extLst>
          </p:cNvPr>
          <p:cNvSpPr txBox="1"/>
          <p:nvPr/>
        </p:nvSpPr>
        <p:spPr>
          <a:xfrm>
            <a:off x="2133600" y="381000"/>
            <a:ext cx="8610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  <p:pic>
        <p:nvPicPr>
          <p:cNvPr id="3" name="Picture 3" descr="Table&#10;&#10;Description automatically generated">
            <a:extLst>
              <a:ext uri="{FF2B5EF4-FFF2-40B4-BE49-F238E27FC236}">
                <a16:creationId xmlns:a16="http://schemas.microsoft.com/office/drawing/2014/main" id="{9692A2DD-ED1B-9793-7ED0-E29B848B8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52" y="784519"/>
            <a:ext cx="5013719" cy="1638122"/>
          </a:xfrm>
          <a:prstGeom prst="rect">
            <a:avLst/>
          </a:prstGeom>
        </p:spPr>
      </p:pic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9A9B6BED-C0AE-707C-7113-DD7560D8B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84" y="2928928"/>
            <a:ext cx="5007073" cy="3408848"/>
          </a:xfrm>
          <a:prstGeom prst="rect">
            <a:avLst/>
          </a:prstGeom>
        </p:spPr>
      </p:pic>
      <p:pic>
        <p:nvPicPr>
          <p:cNvPr id="7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AA937039-7EC3-986C-1DAB-45F747B06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697" y="757547"/>
            <a:ext cx="6176903" cy="557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9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6160F70-949D-0B1A-D14D-4ADAC8430FD2}"/>
              </a:ext>
            </a:extLst>
          </p:cNvPr>
          <p:cNvSpPr txBox="1"/>
          <p:nvPr/>
        </p:nvSpPr>
        <p:spPr>
          <a:xfrm>
            <a:off x="3561644" y="460963"/>
            <a:ext cx="88773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 dirty="0">
                <a:ea typeface="+mn-lt"/>
                <a:cs typeface="+mn-lt"/>
              </a:rPr>
              <a:t>Modèles </a:t>
            </a:r>
            <a:r>
              <a:rPr lang="fr-FR" sz="4000" dirty="0" err="1">
                <a:ea typeface="+mn-lt"/>
                <a:cs typeface="+mn-lt"/>
              </a:rPr>
              <a:t>MCOs</a:t>
            </a:r>
            <a:endParaRPr lang="fr-FR" sz="4000" dirty="0" err="1"/>
          </a:p>
        </p:txBody>
      </p:sp>
      <p:pic>
        <p:nvPicPr>
          <p:cNvPr id="6" name="Picture 6" descr="Table&#10;&#10;Description automatically generated">
            <a:extLst>
              <a:ext uri="{FF2B5EF4-FFF2-40B4-BE49-F238E27FC236}">
                <a16:creationId xmlns:a16="http://schemas.microsoft.com/office/drawing/2014/main" id="{BD42C3DD-F9ED-DEA4-C99A-8545CD1C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4" y="263714"/>
            <a:ext cx="4784606" cy="3461312"/>
          </a:xfrm>
          <a:prstGeom prst="rect">
            <a:avLst/>
          </a:prstGeom>
        </p:spPr>
      </p:pic>
      <p:pic>
        <p:nvPicPr>
          <p:cNvPr id="7" name="Picture 7" descr="Table&#10;&#10;Description automatically generated">
            <a:extLst>
              <a:ext uri="{FF2B5EF4-FFF2-40B4-BE49-F238E27FC236}">
                <a16:creationId xmlns:a16="http://schemas.microsoft.com/office/drawing/2014/main" id="{83FFA83B-AC69-007C-2CE8-99B0EAEF9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31" y="2783039"/>
            <a:ext cx="5960530" cy="3952227"/>
          </a:xfrm>
          <a:prstGeom prst="rect">
            <a:avLst/>
          </a:prstGeom>
        </p:spPr>
      </p:pic>
      <p:pic>
        <p:nvPicPr>
          <p:cNvPr id="8" name="Picture 9" descr="Table&#10;&#10;Description automatically generated">
            <a:extLst>
              <a:ext uri="{FF2B5EF4-FFF2-40B4-BE49-F238E27FC236}">
                <a16:creationId xmlns:a16="http://schemas.microsoft.com/office/drawing/2014/main" id="{35752B88-EF3E-D6E2-F211-11B1D4E6D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19" y="1292932"/>
            <a:ext cx="6120458" cy="40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3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6160F70-949D-0B1A-D14D-4ADAC8430FD2}"/>
              </a:ext>
            </a:extLst>
          </p:cNvPr>
          <p:cNvSpPr txBox="1"/>
          <p:nvPr/>
        </p:nvSpPr>
        <p:spPr>
          <a:xfrm>
            <a:off x="1661348" y="404519"/>
            <a:ext cx="88773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 dirty="0">
                <a:ea typeface="+mn-lt"/>
                <a:cs typeface="+mn-lt"/>
              </a:rPr>
              <a:t>Meilleur modèle MCO</a:t>
            </a:r>
            <a:endParaRPr lang="fr-FR" sz="4000" dirty="0"/>
          </a:p>
        </p:txBody>
      </p:sp>
      <p:pic>
        <p:nvPicPr>
          <p:cNvPr id="7" name="Picture 7" descr="Table&#10;&#10;Description automatically generated">
            <a:extLst>
              <a:ext uri="{FF2B5EF4-FFF2-40B4-BE49-F238E27FC236}">
                <a16:creationId xmlns:a16="http://schemas.microsoft.com/office/drawing/2014/main" id="{83FFA83B-AC69-007C-2CE8-99B0EAEF9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92" y="1249633"/>
            <a:ext cx="6778972" cy="4845928"/>
          </a:xfrm>
          <a:prstGeom prst="rect">
            <a:avLst/>
          </a:prstGeom>
        </p:spPr>
      </p:pic>
      <p:pic>
        <p:nvPicPr>
          <p:cNvPr id="3" name="Picture 3" descr="Text, letter&#10;&#10;Description automatically generated">
            <a:extLst>
              <a:ext uri="{FF2B5EF4-FFF2-40B4-BE49-F238E27FC236}">
                <a16:creationId xmlns:a16="http://schemas.microsoft.com/office/drawing/2014/main" id="{E3ECB547-4C63-D865-D6A9-29C65B4C3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771" y="2136399"/>
            <a:ext cx="6402681" cy="703721"/>
          </a:xfrm>
          <a:prstGeom prst="rect">
            <a:avLst/>
          </a:prstGeom>
        </p:spPr>
      </p:pic>
      <p:pic>
        <p:nvPicPr>
          <p:cNvPr id="4" name="Picture 4" descr="Text, letter&#10;&#10;Description automatically generated">
            <a:extLst>
              <a:ext uri="{FF2B5EF4-FFF2-40B4-BE49-F238E27FC236}">
                <a16:creationId xmlns:a16="http://schemas.microsoft.com/office/drawing/2014/main" id="{B30FD642-234D-C8C9-4646-ADA70BEE5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660" y="4049974"/>
            <a:ext cx="5969939" cy="10534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2169BD-F04F-E7F2-A39B-66E2147CEA3D}"/>
              </a:ext>
            </a:extLst>
          </p:cNvPr>
          <p:cNvSpPr txBox="1"/>
          <p:nvPr/>
        </p:nvSpPr>
        <p:spPr>
          <a:xfrm>
            <a:off x="7243702" y="1825036"/>
            <a:ext cx="25117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Modèle</a:t>
            </a:r>
            <a:r>
              <a:rPr lang="en-US" b="1" dirty="0"/>
              <a:t> à </a:t>
            </a:r>
            <a:r>
              <a:rPr lang="en-US" b="1" dirty="0" err="1"/>
              <a:t>estimer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17D5D-C0BF-BBED-2DE3-3C6CD47E5810}"/>
              </a:ext>
            </a:extLst>
          </p:cNvPr>
          <p:cNvSpPr txBox="1"/>
          <p:nvPr/>
        </p:nvSpPr>
        <p:spPr>
          <a:xfrm>
            <a:off x="7450665" y="3866444"/>
            <a:ext cx="19097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Modèle</a:t>
            </a:r>
            <a:r>
              <a:rPr lang="en-US" b="1" dirty="0"/>
              <a:t> </a:t>
            </a:r>
            <a:r>
              <a:rPr lang="en-US" b="1" dirty="0" err="1"/>
              <a:t>estimé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9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5BA2E4C-6DC6-8322-32B2-BEA452707E7D}"/>
              </a:ext>
            </a:extLst>
          </p:cNvPr>
          <p:cNvSpPr txBox="1"/>
          <p:nvPr/>
        </p:nvSpPr>
        <p:spPr>
          <a:xfrm>
            <a:off x="1732547" y="352926"/>
            <a:ext cx="86146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3600" dirty="0"/>
              <a:t>Tests et résultats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1FD06-A9AE-3DD0-945D-C3E7CDEAD40C}"/>
              </a:ext>
            </a:extLst>
          </p:cNvPr>
          <p:cNvSpPr txBox="1"/>
          <p:nvPr/>
        </p:nvSpPr>
        <p:spPr>
          <a:xfrm>
            <a:off x="304264" y="1033441"/>
            <a:ext cx="525331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Test </a:t>
            </a:r>
            <a:r>
              <a:rPr lang="en-US" b="1" dirty="0" err="1"/>
              <a:t>d'autocorrélation</a:t>
            </a:r>
            <a:r>
              <a:rPr lang="en-US" b="1" dirty="0"/>
              <a:t> (Durbin Watson)</a:t>
            </a:r>
          </a:p>
          <a:p>
            <a:r>
              <a:rPr lang="en-US" dirty="0">
                <a:ea typeface="+mn-lt"/>
                <a:cs typeface="+mn-lt"/>
              </a:rPr>
              <a:t>H0 : ρ = 0 et H1 : ρ ≠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dirty="0">
                <a:ea typeface="+mn-lt"/>
                <a:cs typeface="+mn-lt"/>
              </a:rPr>
              <a:t>0 </a:t>
            </a:r>
            <a:endParaRPr lang="en-US" b="1" dirty="0"/>
          </a:p>
          <a:p>
            <a:r>
              <a:rPr lang="en-US" dirty="0"/>
              <a:t>DW=1.21</a:t>
            </a:r>
          </a:p>
          <a:p>
            <a:r>
              <a:rPr lang="en-US" dirty="0"/>
              <a:t>Ici pour n=60 et k=13 on a dl=0.965 et du=1.964</a:t>
            </a:r>
          </a:p>
          <a:p>
            <a:r>
              <a:rPr lang="en-US" dirty="0"/>
              <a:t>dl&lt;DW&lt;du </a:t>
            </a:r>
            <a:r>
              <a:rPr lang="en-US" dirty="0" err="1"/>
              <a:t>donc</a:t>
            </a:r>
            <a:r>
              <a:rPr lang="en-US" dirty="0"/>
              <a:t>  on se </a:t>
            </a:r>
            <a:r>
              <a:rPr lang="en-US" dirty="0" err="1"/>
              <a:t>situe</a:t>
            </a:r>
            <a:r>
              <a:rPr lang="en-US" dirty="0"/>
              <a:t> dans </a:t>
            </a:r>
            <a:r>
              <a:rPr lang="en-US" u="sng" dirty="0"/>
              <a:t>la zone inconclusive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A348DE1-3773-E263-34D8-B103E1E93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0" y="1665007"/>
            <a:ext cx="6713126" cy="1082062"/>
          </a:xfrm>
          <a:prstGeom prst="rect">
            <a:avLst/>
          </a:prstGeom>
        </p:spPr>
      </p:pic>
      <p:pic>
        <p:nvPicPr>
          <p:cNvPr id="5" name="Picture 5" descr="Chart, line chart, histogram&#10;&#10;Description automatically generated">
            <a:extLst>
              <a:ext uri="{FF2B5EF4-FFF2-40B4-BE49-F238E27FC236}">
                <a16:creationId xmlns:a16="http://schemas.microsoft.com/office/drawing/2014/main" id="{FBACC875-16AC-9B8E-9A84-2C0AC0DD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018" y="3126704"/>
            <a:ext cx="5183528" cy="3461543"/>
          </a:xfrm>
          <a:prstGeom prst="rect">
            <a:avLst/>
          </a:prstGeom>
        </p:spPr>
      </p:pic>
      <p:pic>
        <p:nvPicPr>
          <p:cNvPr id="6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1587D8F6-9C40-D3D4-E389-ED67C6E03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97" y="3129802"/>
            <a:ext cx="5193173" cy="34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4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Table&#10;&#10;Description automatically generated">
            <a:extLst>
              <a:ext uri="{FF2B5EF4-FFF2-40B4-BE49-F238E27FC236}">
                <a16:creationId xmlns:a16="http://schemas.microsoft.com/office/drawing/2014/main" id="{E1E05D4E-729C-7455-CED6-699E65590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086" y="1716995"/>
            <a:ext cx="5878008" cy="4639354"/>
          </a:xfrm>
          <a:prstGeom prst="rect">
            <a:avLst/>
          </a:prstGeom>
        </p:spPr>
      </p:pic>
      <p:sp>
        <p:nvSpPr>
          <p:cNvPr id="5" name="ZoneTexte 1">
            <a:extLst>
              <a:ext uri="{FF2B5EF4-FFF2-40B4-BE49-F238E27FC236}">
                <a16:creationId xmlns:a16="http://schemas.microsoft.com/office/drawing/2014/main" id="{C155E9C4-B93C-40A4-2A1A-6AFACD052814}"/>
              </a:ext>
            </a:extLst>
          </p:cNvPr>
          <p:cNvSpPr txBox="1"/>
          <p:nvPr/>
        </p:nvSpPr>
        <p:spPr>
          <a:xfrm>
            <a:off x="-209892" y="317710"/>
            <a:ext cx="916666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 dirty="0">
                <a:ea typeface="+mn-lt"/>
                <a:cs typeface="+mn-lt"/>
              </a:rPr>
              <a:t>Correction de l'autocorrélation</a:t>
            </a:r>
            <a:br>
              <a:rPr lang="fr-FR" sz="4000" dirty="0">
                <a:ea typeface="+mn-lt"/>
                <a:cs typeface="+mn-lt"/>
              </a:rPr>
            </a:br>
            <a:r>
              <a:rPr lang="fr-FR" sz="4000" dirty="0">
                <a:ea typeface="+mn-lt"/>
                <a:cs typeface="+mn-lt"/>
              </a:rPr>
              <a:t>MCQG: Méthode de Cochrane </a:t>
            </a:r>
            <a:r>
              <a:rPr lang="fr-FR" sz="4000" dirty="0" err="1">
                <a:ea typeface="+mn-lt"/>
                <a:cs typeface="+mn-lt"/>
              </a:rPr>
              <a:t>Orcutt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D3A8C-E8A6-C934-8C3C-25D341628201}"/>
              </a:ext>
            </a:extLst>
          </p:cNvPr>
          <p:cNvSpPr txBox="1"/>
          <p:nvPr/>
        </p:nvSpPr>
        <p:spPr>
          <a:xfrm>
            <a:off x="636608" y="4494836"/>
            <a:ext cx="438873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Avec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modèle</a:t>
            </a:r>
            <a:r>
              <a:rPr lang="en-US" dirty="0"/>
              <a:t> on </a:t>
            </a:r>
            <a:r>
              <a:rPr lang="en-US" dirty="0" err="1"/>
              <a:t>peut</a:t>
            </a:r>
            <a:r>
              <a:rPr lang="en-US" dirty="0"/>
              <a:t> affirmer que: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H2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respéctée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SCR </a:t>
            </a:r>
            <a:r>
              <a:rPr lang="en-US" dirty="0" err="1"/>
              <a:t>diminue</a:t>
            </a:r>
            <a:r>
              <a:rPr lang="en-US" dirty="0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R2 </a:t>
            </a:r>
            <a:r>
              <a:rPr lang="en-US" dirty="0" err="1"/>
              <a:t>augmente</a:t>
            </a:r>
            <a:r>
              <a:rPr lang="en-US" dirty="0"/>
              <a:t> </a:t>
            </a:r>
            <a:r>
              <a:rPr lang="en-US" dirty="0" err="1"/>
              <a:t>légerement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Les </a:t>
            </a:r>
            <a:r>
              <a:rPr lang="en-US" dirty="0" err="1"/>
              <a:t>significativités</a:t>
            </a:r>
            <a:r>
              <a:rPr lang="en-US" dirty="0"/>
              <a:t> des </a:t>
            </a:r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augmentent</a:t>
            </a:r>
            <a:endParaRPr lang="en-US" dirty="0"/>
          </a:p>
        </p:txBody>
      </p:sp>
      <p:pic>
        <p:nvPicPr>
          <p:cNvPr id="7" name="Picture 7" descr="Text, letter&#10;&#10;Description automatically generated">
            <a:extLst>
              <a:ext uri="{FF2B5EF4-FFF2-40B4-BE49-F238E27FC236}">
                <a16:creationId xmlns:a16="http://schemas.microsoft.com/office/drawing/2014/main" id="{FB8B5BBF-5F53-FDE7-CD7A-695F26E73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8" y="2708282"/>
            <a:ext cx="5193174" cy="11520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00B1F0-4FE9-F726-1230-9AAA525C255F}"/>
              </a:ext>
            </a:extLst>
          </p:cNvPr>
          <p:cNvSpPr txBox="1"/>
          <p:nvPr/>
        </p:nvSpPr>
        <p:spPr>
          <a:xfrm>
            <a:off x="1788716" y="2564292"/>
            <a:ext cx="19097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Modèle</a:t>
            </a:r>
            <a:r>
              <a:rPr lang="en-US" b="1" dirty="0"/>
              <a:t> </a:t>
            </a:r>
            <a:r>
              <a:rPr lang="en-US" b="1" dirty="0" err="1"/>
              <a:t>estimé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983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1">
            <a:extLst>
              <a:ext uri="{FF2B5EF4-FFF2-40B4-BE49-F238E27FC236}">
                <a16:creationId xmlns:a16="http://schemas.microsoft.com/office/drawing/2014/main" id="{0CE6DF63-9541-E097-8F59-07F9573DE217}"/>
              </a:ext>
            </a:extLst>
          </p:cNvPr>
          <p:cNvSpPr txBox="1"/>
          <p:nvPr/>
        </p:nvSpPr>
        <p:spPr>
          <a:xfrm>
            <a:off x="851120" y="240545"/>
            <a:ext cx="91666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 dirty="0">
                <a:ea typeface="+mn-lt"/>
                <a:cs typeface="+mn-lt"/>
              </a:rPr>
              <a:t>Conclusions</a:t>
            </a:r>
          </a:p>
        </p:txBody>
      </p:sp>
      <p:pic>
        <p:nvPicPr>
          <p:cNvPr id="5" name="Picture 7" descr="Text, letter&#10;&#10;Description automatically generated">
            <a:extLst>
              <a:ext uri="{FF2B5EF4-FFF2-40B4-BE49-F238E27FC236}">
                <a16:creationId xmlns:a16="http://schemas.microsoft.com/office/drawing/2014/main" id="{EBC35500-89DA-B3AB-8A79-0A8045A1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728" y="1193927"/>
            <a:ext cx="6244541" cy="13835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63B657-CE73-3D40-A801-CDE94E407C76}"/>
              </a:ext>
            </a:extLst>
          </p:cNvPr>
          <p:cNvSpPr txBox="1"/>
          <p:nvPr/>
        </p:nvSpPr>
        <p:spPr>
          <a:xfrm>
            <a:off x="598025" y="1118886"/>
            <a:ext cx="43597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Question </a:t>
            </a:r>
            <a:r>
              <a:rPr lang="en-US" dirty="0">
                <a:ea typeface="+mn-lt"/>
                <a:cs typeface="+mn-lt"/>
              </a:rPr>
              <a:t>: Quel </a:t>
            </a:r>
            <a:r>
              <a:rPr lang="en-US" dirty="0" err="1">
                <a:ea typeface="+mn-lt"/>
                <a:cs typeface="+mn-lt"/>
              </a:rPr>
              <a:t>est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l'effet</a:t>
            </a:r>
            <a:r>
              <a:rPr lang="en-US" dirty="0">
                <a:ea typeface="+mn-lt"/>
                <a:cs typeface="+mn-lt"/>
              </a:rPr>
              <a:t> de la </a:t>
            </a:r>
            <a:r>
              <a:rPr lang="en-US" dirty="0" err="1">
                <a:ea typeface="+mn-lt"/>
                <a:cs typeface="+mn-lt"/>
              </a:rPr>
              <a:t>température</a:t>
            </a:r>
            <a:r>
              <a:rPr lang="en-US" dirty="0">
                <a:ea typeface="+mn-lt"/>
                <a:cs typeface="+mn-lt"/>
              </a:rPr>
              <a:t> et du prix de </a:t>
            </a:r>
            <a:r>
              <a:rPr lang="en-US" dirty="0" err="1">
                <a:ea typeface="+mn-lt"/>
                <a:cs typeface="+mn-lt"/>
              </a:rPr>
              <a:t>l'électricité</a:t>
            </a:r>
            <a:r>
              <a:rPr lang="en-US" dirty="0">
                <a:ea typeface="+mn-lt"/>
                <a:cs typeface="+mn-lt"/>
              </a:rPr>
              <a:t> des ménages sur la </a:t>
            </a:r>
            <a:r>
              <a:rPr lang="en-US" dirty="0" err="1">
                <a:ea typeface="+mn-lt"/>
                <a:cs typeface="+mn-lt"/>
              </a:rPr>
              <a:t>consommation</a:t>
            </a:r>
            <a:r>
              <a:rPr lang="en-US" dirty="0">
                <a:ea typeface="+mn-lt"/>
                <a:cs typeface="+mn-lt"/>
              </a:rPr>
              <a:t> brute </a:t>
            </a:r>
            <a:r>
              <a:rPr lang="en-US" dirty="0" err="1">
                <a:ea typeface="+mn-lt"/>
                <a:cs typeface="+mn-lt"/>
              </a:rPr>
              <a:t>d'électricité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45A0B-F0A8-EB03-7BAD-2C8345D947BC}"/>
              </a:ext>
            </a:extLst>
          </p:cNvPr>
          <p:cNvSpPr txBox="1"/>
          <p:nvPr/>
        </p:nvSpPr>
        <p:spPr>
          <a:xfrm>
            <a:off x="7807551" y="1117457"/>
            <a:ext cx="19097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Modèle</a:t>
            </a:r>
            <a:r>
              <a:rPr lang="en-US" b="1" dirty="0"/>
              <a:t> </a:t>
            </a:r>
            <a:r>
              <a:rPr lang="en-US" b="1" dirty="0" err="1"/>
              <a:t>estimé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5D547-4704-338A-F663-36A665C3B217}"/>
              </a:ext>
            </a:extLst>
          </p:cNvPr>
          <p:cNvSpPr txBox="1"/>
          <p:nvPr/>
        </p:nvSpPr>
        <p:spPr>
          <a:xfrm>
            <a:off x="1424026" y="3377084"/>
            <a:ext cx="934292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Pour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degrée</a:t>
            </a:r>
            <a:r>
              <a:rPr lang="en-US" dirty="0"/>
              <a:t> de </a:t>
            </a:r>
            <a:r>
              <a:rPr lang="en-US" dirty="0" err="1"/>
              <a:t>température</a:t>
            </a:r>
            <a:r>
              <a:rPr lang="en-US" dirty="0"/>
              <a:t> la </a:t>
            </a:r>
            <a:r>
              <a:rPr lang="en-US" dirty="0" err="1"/>
              <a:t>consommation</a:t>
            </a:r>
            <a:r>
              <a:rPr lang="en-US" dirty="0"/>
              <a:t> de </a:t>
            </a:r>
            <a:r>
              <a:rPr lang="en-US" dirty="0" err="1"/>
              <a:t>l'électricité</a:t>
            </a:r>
            <a:r>
              <a:rPr lang="en-US" dirty="0"/>
              <a:t> </a:t>
            </a:r>
            <a:r>
              <a:rPr lang="en-US" dirty="0" err="1"/>
              <a:t>diminue</a:t>
            </a:r>
            <a:r>
              <a:rPr lang="en-US" dirty="0"/>
              <a:t> de 2.05%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Une </a:t>
            </a:r>
            <a:r>
              <a:rPr lang="en-US" dirty="0" err="1"/>
              <a:t>hausse</a:t>
            </a:r>
            <a:r>
              <a:rPr lang="en-US" dirty="0"/>
              <a:t> de prix de </a:t>
            </a:r>
            <a:r>
              <a:rPr lang="en-US" dirty="0" err="1"/>
              <a:t>l'électricité</a:t>
            </a:r>
            <a:r>
              <a:rPr lang="en-US" dirty="0"/>
              <a:t> des ménages de 1 euro </a:t>
            </a:r>
            <a:r>
              <a:rPr lang="en-US" dirty="0" err="1"/>
              <a:t>diminue</a:t>
            </a:r>
            <a:r>
              <a:rPr lang="en-US" dirty="0"/>
              <a:t> la </a:t>
            </a:r>
            <a:r>
              <a:rPr lang="en-US" dirty="0" err="1"/>
              <a:t>consommation</a:t>
            </a:r>
            <a:r>
              <a:rPr lang="en-US" dirty="0"/>
              <a:t> de </a:t>
            </a:r>
            <a:r>
              <a:rPr lang="en-US" dirty="0" err="1"/>
              <a:t>l'électricité</a:t>
            </a:r>
            <a:r>
              <a:rPr lang="en-US" dirty="0"/>
              <a:t> de 1.61%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La </a:t>
            </a:r>
            <a:r>
              <a:rPr lang="en-US" dirty="0" err="1"/>
              <a:t>température</a:t>
            </a:r>
            <a:r>
              <a:rPr lang="en-US" dirty="0"/>
              <a:t> et le prix de </a:t>
            </a:r>
            <a:r>
              <a:rPr lang="en-US" dirty="0" err="1"/>
              <a:t>l'électricité</a:t>
            </a:r>
            <a:r>
              <a:rPr lang="en-US" dirty="0"/>
              <a:t> </a:t>
            </a:r>
            <a:r>
              <a:rPr lang="en-US" dirty="0" err="1"/>
              <a:t>ont</a:t>
            </a:r>
            <a:r>
              <a:rPr lang="en-US" dirty="0"/>
              <a:t> des </a:t>
            </a:r>
            <a:r>
              <a:rPr lang="en-US" dirty="0" err="1"/>
              <a:t>effets</a:t>
            </a:r>
            <a:r>
              <a:rPr lang="en-US" dirty="0"/>
              <a:t> </a:t>
            </a:r>
            <a:r>
              <a:rPr lang="en-US" dirty="0" err="1"/>
              <a:t>significatifs</a:t>
            </a:r>
            <a:r>
              <a:rPr lang="en-US" dirty="0"/>
              <a:t> sur la </a:t>
            </a:r>
            <a:r>
              <a:rPr lang="en-US" dirty="0" err="1"/>
              <a:t>consommation</a:t>
            </a:r>
            <a:r>
              <a:rPr lang="en-US" dirty="0"/>
              <a:t> de </a:t>
            </a:r>
            <a:r>
              <a:rPr lang="en-US" dirty="0" err="1"/>
              <a:t>l'électricité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Les </a:t>
            </a:r>
            <a:r>
              <a:rPr lang="en-US" dirty="0" err="1"/>
              <a:t>jours</a:t>
            </a:r>
            <a:r>
              <a:rPr lang="en-US" dirty="0"/>
              <a:t> les plus </a:t>
            </a:r>
            <a:r>
              <a:rPr lang="en-US" dirty="0" err="1"/>
              <a:t>froides</a:t>
            </a:r>
            <a:r>
              <a:rPr lang="en-US" dirty="0"/>
              <a:t> le pic de la </a:t>
            </a:r>
            <a:r>
              <a:rPr lang="en-US" dirty="0" err="1"/>
              <a:t>consommation</a:t>
            </a:r>
            <a:r>
              <a:rPr lang="en-US" dirty="0"/>
              <a:t> de </a:t>
            </a:r>
            <a:r>
              <a:rPr lang="en-US" dirty="0" err="1"/>
              <a:t>l'énergie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plus haute que les </a:t>
            </a:r>
            <a:r>
              <a:rPr lang="en-US" dirty="0" err="1"/>
              <a:t>jours</a:t>
            </a:r>
            <a:r>
              <a:rPr lang="en-US" dirty="0"/>
              <a:t> plus </a:t>
            </a:r>
            <a:r>
              <a:rPr lang="en-US" dirty="0" err="1"/>
              <a:t>chaudes</a:t>
            </a:r>
            <a:r>
              <a:rPr lang="en-US" dirty="0"/>
              <a:t> et </a:t>
            </a:r>
            <a:r>
              <a:rPr lang="en-US" dirty="0" err="1"/>
              <a:t>quand</a:t>
            </a:r>
            <a:r>
              <a:rPr lang="en-US" dirty="0"/>
              <a:t> le prix de </a:t>
            </a:r>
            <a:r>
              <a:rPr lang="en-US" dirty="0" err="1"/>
              <a:t>l'électricité</a:t>
            </a:r>
            <a:r>
              <a:rPr lang="en-US" dirty="0"/>
              <a:t> </a:t>
            </a:r>
            <a:r>
              <a:rPr lang="en-US" dirty="0" err="1"/>
              <a:t>augmente</a:t>
            </a:r>
            <a:r>
              <a:rPr lang="en-US" dirty="0"/>
              <a:t> la </a:t>
            </a:r>
            <a:r>
              <a:rPr lang="en-US" dirty="0" err="1"/>
              <a:t>consommation</a:t>
            </a:r>
            <a:r>
              <a:rPr lang="en-US" dirty="0"/>
              <a:t> se </a:t>
            </a:r>
            <a:r>
              <a:rPr lang="en-US" dirty="0" err="1"/>
              <a:t>réduit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873030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AnalogousFromRegularSeedRightStep">
      <a:dk1>
        <a:srgbClr val="000000"/>
      </a:dk1>
      <a:lt1>
        <a:srgbClr val="FFFFFF"/>
      </a:lt1>
      <a:dk2>
        <a:srgbClr val="311C21"/>
      </a:dk2>
      <a:lt2>
        <a:srgbClr val="F3F0F0"/>
      </a:lt2>
      <a:accent1>
        <a:srgbClr val="3BB1B7"/>
      </a:accent1>
      <a:accent2>
        <a:srgbClr val="317BBB"/>
      </a:accent2>
      <a:accent3>
        <a:srgbClr val="4353CD"/>
      </a:accent3>
      <a:accent4>
        <a:srgbClr val="5D34BD"/>
      </a:accent4>
      <a:accent5>
        <a:srgbClr val="A643CD"/>
      </a:accent5>
      <a:accent6>
        <a:srgbClr val="BB31A9"/>
      </a:accent6>
      <a:hlink>
        <a:srgbClr val="BF463F"/>
      </a:hlink>
      <a:folHlink>
        <a:srgbClr val="7F7F7F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BevelVTI</vt:lpstr>
      <vt:lpstr>Projet empirique Économétrie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283</cp:revision>
  <dcterms:created xsi:type="dcterms:W3CDTF">2022-12-12T15:59:29Z</dcterms:created>
  <dcterms:modified xsi:type="dcterms:W3CDTF">2022-12-12T22:41:22Z</dcterms:modified>
</cp:coreProperties>
</file>